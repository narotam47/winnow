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answer — every slide that follows is evidence for one of these three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Oman's $3.06M looks tempting but nearly all flows through Salalah for re-export; the domestic buyer is much smaller.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dashed line is what UAE actually consumes; the gap is Jebel Ali re-exports to East Africa.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 price drop in FY21-22 is the signal — commodity dumping suppressed price; recovery says market is ready for graded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line at $0.441 is the Kuwait ceiling — the price our product should target in UAE retail.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Saudi's decline is structural: local grain policy and domestic sorghum subsidies, not reversible on a 2-year horizon.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Darker UAE segment is constant as a share of the stack every year — that consistency is the argument for supply-chain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cost lever is the darkest blue segment — everything to its right is fixed by geography and regulation.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 case (red box) sits in the upper half of the distribution — deliberately conservative freight and FX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Hedge recommendation: six-month forward INR contract on procurement cost; ocean freight is USD-settled.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bar is the trial shipment; right bar is steady state — if trial clears customs and buyer pays, you're in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only one track completes in week one, make it the APEDA IEC — without it, nothing else can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E86AB"/>
                </a:solidFill>
              </a:rPr>
              <a:t>MONSOON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</a:rPr>
              <a:t>Should a Rajasthan bajra exporter enter the GCC millet market — and which country first?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</a:rPr>
              <a:t>Yash Narotam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6AB"/>
                </a:solidFill>
              </a:rPr>
              <a:t>Enter UAE first with cleaned whole grain at $550/MT: a 23.7% gross margin on an $8.0M adjusted market growing at 4.8% annually</a:t>
            </a:r>
          </a:p>
        </p:txBody>
      </p:sp>
      <p:pic>
        <p:nvPicPr>
          <p:cNvPr id="3" name="Picture 2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777240"/>
            <a:ext cx="7772400" cy="51328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532120"/>
            <a:ext cx="11430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Landed cost from Jodhpur to Jebel Ali is $419.81/MT across ten components; procurement is 64% of total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UAE absorbed $8.01M of millet domestically in 2023 after netting Jebel Ali re-exports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2 TEUs/month at $550/MT generates $24,200 gross revenue; the $130/MT margin is positive from the first container</a:t>
            </a:r>
          </a:p>
          <a:p>
            <a:pPr>
              <a:spcBef>
                <a:spcPts val="1100"/>
              </a:spcBef>
            </a:pPr>
            <a:r>
              <a:rPr sz="900">
                <a:solidFill>
                  <a:srgbClr val="888888"/>
                </a:solidFill>
              </a:rPr>
              <a:t>Source: Comtrade HS 100821+100829 (2023); APEDA Product Code 0606 FY2023-24; Jodhpur–Jebel Ali cost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6AB"/>
                </a:solidFill>
              </a:rPr>
              <a:t>GCC millet imports total $13.7M annually; UAE captures 51%, making it the only single-market entry worth the freight</a:t>
            </a:r>
          </a:p>
        </p:txBody>
      </p:sp>
      <p:pic>
        <p:nvPicPr>
          <p:cNvPr id="3" name="Picture 2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7223760" cy="44347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60920" y="822960"/>
            <a:ext cx="46634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Oman is the second-largest market at $3.06M avg but is dominated by re-export and transit flows via Salalah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Saudi Arabia, Qatar, Bahrain, and Kuwait combined average $3.64M — half of UAE alone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UAE's 51% share has been stable across all five years in the Comtrade dataset</a:t>
            </a:r>
          </a:p>
          <a:p>
            <a:pPr>
              <a:spcBef>
                <a:spcPts val="1100"/>
              </a:spcBef>
            </a:pPr>
            <a:r>
              <a:rPr sz="900">
                <a:solidFill>
                  <a:srgbClr val="888888"/>
                </a:solidFill>
              </a:rPr>
              <a:t>Source: UN Comtrade HS 100821+100829, annual_summary VIEW (2019–2023 average)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6AB"/>
                </a:solidFill>
              </a:rPr>
              <a:t>UAE millet imports grew in six of eight years from 2016 to 2023; the 2020 dip was COVID, not structural</a:t>
            </a:r>
          </a:p>
        </p:txBody>
      </p:sp>
      <p:pic>
        <p:nvPicPr>
          <p:cNvPr id="3" name="Picture 2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7223760" cy="4642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60920" y="822960"/>
            <a:ext cx="46634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UAE total millet imports reached $8.41M in 2023, up 55% from $5.44M in 2016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The adjusted series (net of re-exports) tracks within 5% of total — domestic absorption, not transit trading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2021, 2022, and 2023 each set a new record; post-COVID acceleration is sharper than pre-COVID</a:t>
            </a:r>
          </a:p>
          <a:p>
            <a:pPr>
              <a:spcBef>
                <a:spcPts val="1100"/>
              </a:spcBef>
            </a:pPr>
            <a:r>
              <a:rPr sz="900">
                <a:solidFill>
                  <a:srgbClr val="888888"/>
                </a:solidFill>
              </a:rPr>
              <a:t>Source: UN Comtrade HS 100821+100829 (2016–2023); re-exports netted via Comtrade flow code RX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6AB"/>
                </a:solidFill>
              </a:rPr>
              <a:t>India exports 29,214 MT of bajra to UAE annually — more than to all other GCC markets combined</a:t>
            </a:r>
          </a:p>
        </p:txBody>
      </p:sp>
      <p:pic>
        <p:nvPicPr>
          <p:cNvPr id="3" name="Picture 2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7223760" cy="41799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60920" y="822960"/>
            <a:ext cx="46634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India's exports to UAE peaked at 33,176 MT in FY2022-23 before normalising to 29,214 MT — still 74% above baseline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UAE absorbs more Indian bajra than Saudi Arabia, Kuwait, Qatar, and Oman combined in every year on record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Unit price fell to $0.336/kg in FY2021-22 as volumes surged, then recovered — commodity-grade bulk compressing price on volume</a:t>
            </a:r>
          </a:p>
          <a:p>
            <a:pPr>
              <a:spcBef>
                <a:spcPts val="1100"/>
              </a:spcBef>
            </a:pPr>
            <a:r>
              <a:rPr sz="900">
                <a:solidFill>
                  <a:srgbClr val="888888"/>
                </a:solidFill>
              </a:rPr>
              <a:t>Source: APEDA AgriExchange, Product Code 0606 (Millet), FY2019-20 to FY2023-24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6AB"/>
                </a:solidFill>
              </a:rPr>
              <a:t>Kuwait pays $0.44/kg for Indian millet; Oman pays $0.34/kg — a 29% spread driven by grain quality, not geography</a:t>
            </a:r>
          </a:p>
        </p:txBody>
      </p:sp>
      <p:pic>
        <p:nvPicPr>
          <p:cNvPr id="3" name="Picture 2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7223760" cy="43828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60920" y="822960"/>
            <a:ext cx="46634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Kuwait receives the highest unit prices despite taking one-sixth of UAE's volume — volume does not explain the premium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Oman's $0.34/kg floor reflects bulk commodity exports likely for re-processing or animal feed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UAE at $0.40/kg sits mid-range; targeting the Kuwait price band ($0.42–$0.44) through grading is a defined price lever</a:t>
            </a:r>
          </a:p>
          <a:p>
            <a:pPr>
              <a:spcBef>
                <a:spcPts val="1100"/>
              </a:spcBef>
            </a:pPr>
            <a:r>
              <a:rPr sz="900">
                <a:solidFill>
                  <a:srgbClr val="888888"/>
                </a:solidFill>
              </a:rPr>
              <a:t>Source: APEDA AgriExchange, Product Code 0606 (Millet), FY2023-24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6AB"/>
                </a:solidFill>
              </a:rPr>
              <a:t>Saudi Arabia shrank 84% from 2016 to 2023; the demand it shed did not leave the GCC — it migrated to UAE</a:t>
            </a:r>
          </a:p>
        </p:txBody>
      </p:sp>
      <p:pic>
        <p:nvPicPr>
          <p:cNvPr id="3" name="Picture 2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7223760" cy="45943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60920" y="822960"/>
            <a:ext cx="46634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Saudi Arabia was the GCC's largest millet market in 2016 at $7.78M; it crossed below UAE in 2017 and never recovered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The 2022 partial rebound ($2.64M) reversed entirely in 2023; two recovery-reversal cycles indicate structural substitution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UAE's 2023 value ($8.41M) now exceeds Saudi Arabia's 2016 peak — the volume migrated, it did not evaporate</a:t>
            </a:r>
          </a:p>
          <a:p>
            <a:pPr>
              <a:spcBef>
                <a:spcPts val="1100"/>
              </a:spcBef>
            </a:pPr>
            <a:r>
              <a:rPr sz="900">
                <a:solidFill>
                  <a:srgbClr val="888888"/>
                </a:solidFill>
              </a:rPr>
              <a:t>Source: UN Comtrade HS 100821+100829 (2016–2023)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6AB"/>
                </a:solidFill>
              </a:rPr>
              <a:t>India's GCC bajra exports grew 65% by volume over five fiscal years; UAE absorbed nearly half the total every year</a:t>
            </a:r>
          </a:p>
        </p:txBody>
      </p:sp>
      <p:pic>
        <p:nvPicPr>
          <p:cNvPr id="3" name="Picture 2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7223760" cy="44530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60920" y="822960"/>
            <a:ext cx="46634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India's total GCC bajra exports grew from 34,742 MT in FY2019-20 to a peak of 70,478 MT in FY2022-23 — 103% in three years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UAE absorbed 48%–51% of India's total GCC volume in each of the five years — destination concentration is stable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FY2023-24 normalisation to 57,460 MT is a 19% pullback from peak but 65% above the FY2019-20 baseline</a:t>
            </a:r>
          </a:p>
          <a:p>
            <a:pPr>
              <a:spcBef>
                <a:spcPts val="1100"/>
              </a:spcBef>
            </a:pPr>
            <a:r>
              <a:rPr sz="900">
                <a:solidFill>
                  <a:srgbClr val="888888"/>
                </a:solidFill>
              </a:rPr>
              <a:t>Source: APEDA AgriExchange, Product Code 0606 (Millet), FY2019-20 to FY2023-24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6AB"/>
                </a:solidFill>
              </a:rPr>
              <a:t>The Jodhpur-to-Jebel Ali landed cost is $419.81/MT; procurement at $269.76 is the only component Rajasthan controls</a:t>
            </a:r>
          </a:p>
        </p:txBody>
      </p:sp>
      <p:pic>
        <p:nvPicPr>
          <p:cNvPr id="3" name="Picture 2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7223760" cy="5559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60920" y="822960"/>
            <a:ext cx="46634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Procurement ($269.76/MT) is 64% of total landed cost and the only component reducible by sourcing strategy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Ocean freight ($45.45) and UAE duty ($18.80) together add $64.25 — fully external, pass-through costs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Non-procurement subtotal is $150.05/MT — the fixed overhead any Rajasthan-origin exporter must absorb</a:t>
            </a:r>
          </a:p>
          <a:p>
            <a:pPr>
              <a:spcBef>
                <a:spcPts val="1100"/>
              </a:spcBef>
            </a:pPr>
            <a:r>
              <a:rPr sz="900">
                <a:solidFill>
                  <a:srgbClr val="888888"/>
                </a:solidFill>
              </a:rPr>
              <a:t>Source: Jodhpur–Jebel Ali cost model; Jebel Ali port tariff (UAE HS 1008 MFN 5%); JNPT rates FY2023-24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6AB"/>
                </a:solidFill>
              </a:rPr>
              <a:t>Gross margin ranges from 9.6% to 31.9% across 30 freight and FX scenarios; no combination wipes out profit</a:t>
            </a:r>
          </a:p>
        </p:txBody>
      </p:sp>
      <p:pic>
        <p:nvPicPr>
          <p:cNvPr id="3" name="Picture 2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7223760" cy="5012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60920" y="822960"/>
            <a:ext cx="46634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At the worst scenario (₹73/USD, $75/MT freight), gross margin is 9.1% — still cash-positive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FX drives more margin variance than freight: a ₹10 move shifts margin ~4.5 pp; a $16 freight move shifts ~2.9 pp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17 of 30 scenarios produce a margin above 20%; all 30 remain above zero</a:t>
            </a:r>
          </a:p>
          <a:p>
            <a:pPr>
              <a:spcBef>
                <a:spcPts val="1100"/>
              </a:spcBef>
            </a:pPr>
            <a:r>
              <a:rPr sz="900">
                <a:solidFill>
                  <a:srgbClr val="888888"/>
                </a:solidFill>
              </a:rPr>
              <a:t>Source: Jodhpur–Jebel Ali cost model; sensitivity computed parametrically, 30 freight × FX combinations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6AB"/>
                </a:solidFill>
              </a:rPr>
              <a:t>The $497/MT breakeven FOB leaves a $53 buffer at ₹84; rupee appreciation is the one risk that closes this gap</a:t>
            </a:r>
          </a:p>
        </p:txBody>
      </p:sp>
      <p:pic>
        <p:nvPicPr>
          <p:cNvPr id="3" name="Picture 2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7223760" cy="44542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60920" y="822960"/>
            <a:ext cx="46634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Every ₹1 of rupee appreciation cuts gross margin by ~0.9 pp; a move from ₹84 to ₹73 costs 9 pp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Rupee must strengthen beyond ₹60 to reach zero margin at base freight — a 28% appreciation from current levels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$497 breakeven FOB means a buyer offering less than $497 landed CIF is a no-go; $53 is the negotiating buffer</a:t>
            </a:r>
          </a:p>
          <a:p>
            <a:pPr>
              <a:spcBef>
                <a:spcPts val="1100"/>
              </a:spcBef>
            </a:pPr>
            <a:r>
              <a:rPr sz="900">
                <a:solidFill>
                  <a:srgbClr val="888888"/>
                </a:solidFill>
              </a:rPr>
              <a:t>Source: Jodhpur–Jebel Ali cost model; RBI USD/INR historical range 2020–2024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6AB"/>
                </a:solidFill>
              </a:rPr>
              <a:t>Two TEUs per month generates $24,200 in monthly revenue; the model is cash-positive from the first shipment</a:t>
            </a:r>
          </a:p>
        </p:txBody>
      </p:sp>
      <p:pic>
        <p:nvPicPr>
          <p:cNvPr id="3" name="Picture 2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7223760" cy="46307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60920" y="822960"/>
            <a:ext cx="46634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At 2 TEUs/month gross profit is $5,728 — covers a part-time export manager's compensation at Indian market rates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Cost structure is entirely variable at this volume; no fixed overhead beyond APEDA registration required in month one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22222"/>
                </a:solidFill>
              </a:rPr>
              <a:t>• Scaling from 1 TEU to 2 TEUs doubles gross profit with no change in unit economics — linear until a 3PL is needed</a:t>
            </a:r>
          </a:p>
          <a:p>
            <a:pPr>
              <a:spcBef>
                <a:spcPts val="1100"/>
              </a:spcBef>
            </a:pPr>
            <a:r>
              <a:rPr sz="900">
                <a:solidFill>
                  <a:srgbClr val="888888"/>
                </a:solidFill>
              </a:rPr>
              <a:t>Source: Jodhpur–Jebel Ali cost model; 22 MT per 20ft FCL (standard bajra bagging density)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6AB"/>
                </a:solidFill>
              </a:rPr>
              <a:t>Register with APEDA, identify one UAE buyer, and book a trial TEU: three actions executable in week one</a:t>
            </a:r>
          </a:p>
        </p:txBody>
      </p:sp>
      <p:pic>
        <p:nvPicPr>
          <p:cNvPr id="3" name="Picture 2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777240"/>
            <a:ext cx="9144000" cy="5441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Deliverable by day 7: APEDA IEC registration submitted  ·  one buyer NDA requested  ·  freight forwarder quote in hand.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Source: APEDA export portal; Dubai Chamber importer search; UAE ESMA food import requirements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